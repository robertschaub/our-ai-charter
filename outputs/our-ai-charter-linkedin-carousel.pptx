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e3e4d76744281" /><Relationship Type="http://schemas.openxmlformats.org/officeDocument/2006/relationships/extended-properties" Target="/docProps/app.xml" Id="Rcdd9eff77d5a4685" /><Relationship Type="http://schemas.openxmlformats.org/officeDocument/2006/relationships/officeDocument" Target="/ppt/presentation.xml" Id="R3b6920fcd80e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67763909114d81"/>
  </p:sldMasterIdLst>
  <p:notesMasterIdLst>
    <p:notesMasterId xmlns:r="http://schemas.openxmlformats.org/officeDocument/2006/relationships" r:id="Rcdffd4d71f1c4437"/>
  </p:notesMasterIdLst>
  <p:sldIdLst>
    <p:sldId xmlns:r="http://schemas.openxmlformats.org/officeDocument/2006/relationships" id="256" r:id="Rea18b5b6ed054834"/>
    <p:sldId xmlns:r="http://schemas.openxmlformats.org/officeDocument/2006/relationships" id="257" r:id="R951652bb66a04daf"/>
    <p:sldId xmlns:r="http://schemas.openxmlformats.org/officeDocument/2006/relationships" id="258" r:id="R4d0d1d08f2af4c30"/>
    <p:sldId xmlns:r="http://schemas.openxmlformats.org/officeDocument/2006/relationships" id="259" r:id="Rfb8a411e0249473b"/>
    <p:sldId xmlns:r="http://schemas.openxmlformats.org/officeDocument/2006/relationships" id="260" r:id="Rc56de5e3e27b4987"/>
    <p:sldId xmlns:r="http://schemas.openxmlformats.org/officeDocument/2006/relationships" id="261" r:id="R289dff0e55b34bc6"/>
    <p:sldId xmlns:r="http://schemas.openxmlformats.org/officeDocument/2006/relationships" id="262" r:id="R0bd9a4d870b64e96"/>
    <p:sldId xmlns:r="http://schemas.openxmlformats.org/officeDocument/2006/relationships" id="263" r:id="R5ebe906cd6144fb6"/>
    <p:sldId xmlns:r="http://schemas.openxmlformats.org/officeDocument/2006/relationships" id="264" r:id="R2208287c18d34ac9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f40ff3278b4ef4" /><Relationship Type="http://schemas.openxmlformats.org/officeDocument/2006/relationships/slideMaster" Target="/ppt/slideMasters/slideMaster1.xml" Id="Rc467763909114d81" /><Relationship Type="http://schemas.openxmlformats.org/officeDocument/2006/relationships/notesMaster" Target="/ppt/notesMasters/notesMaster1.xml" Id="Rcdffd4d71f1c4437" /><Relationship Type="http://schemas.openxmlformats.org/officeDocument/2006/relationships/presProps" Target="/ppt/presProps.xml" Id="Ra07ce0c53c294b94" /><Relationship Type="http://schemas.openxmlformats.org/officeDocument/2006/relationships/tableStyles" Target="/ppt/tableStyles.xml" Id="Ree076aedb1d6495b" /><Relationship Type="http://schemas.openxmlformats.org/officeDocument/2006/relationships/slide" Target="/ppt/slides/slide1.xml" Id="Rea18b5b6ed054834" /><Relationship Type="http://schemas.openxmlformats.org/officeDocument/2006/relationships/slide" Target="/ppt/slides/slide2.xml" Id="R951652bb66a04daf" /><Relationship Type="http://schemas.openxmlformats.org/officeDocument/2006/relationships/slide" Target="/ppt/slides/slide3.xml" Id="R4d0d1d08f2af4c30" /><Relationship Type="http://schemas.openxmlformats.org/officeDocument/2006/relationships/slide" Target="/ppt/slides/slide4.xml" Id="Rfb8a411e0249473b" /><Relationship Type="http://schemas.openxmlformats.org/officeDocument/2006/relationships/slide" Target="/ppt/slides/slide5.xml" Id="Rc56de5e3e27b4987" /><Relationship Type="http://schemas.openxmlformats.org/officeDocument/2006/relationships/slide" Target="/ppt/slides/slide6.xml" Id="R289dff0e55b34bc6" /><Relationship Type="http://schemas.openxmlformats.org/officeDocument/2006/relationships/slide" Target="/ppt/slides/slide7.xml" Id="R0bd9a4d870b64e96" /><Relationship Type="http://schemas.openxmlformats.org/officeDocument/2006/relationships/slide" Target="/ppt/slides/slide8.xml" Id="R5ebe906cd6144fb6" /><Relationship Type="http://schemas.openxmlformats.org/officeDocument/2006/relationships/slide" Target="/ppt/slides/slide9.xml" Id="R2208287c18d34a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a4353cd1e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47fad4e6134fe5" /><Relationship Type="http://schemas.openxmlformats.org/officeDocument/2006/relationships/notesMaster" Target="/ppt/notesMasters/notesMaster1.xml" Id="Rb3a5387c199b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09286ab07e4bfb" /><Relationship Type="http://schemas.openxmlformats.org/officeDocument/2006/relationships/notesMaster" Target="/ppt/notesMasters/notesMaster1.xml" Id="Rb513594eb50d4d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b878dd9164d3c" /><Relationship Type="http://schemas.openxmlformats.org/officeDocument/2006/relationships/notesMaster" Target="/ppt/notesMasters/notesMaster1.xml" Id="R976c166ff6c44f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17e67f71204124" /><Relationship Type="http://schemas.openxmlformats.org/officeDocument/2006/relationships/notesMaster" Target="/ppt/notesMasters/notesMaster1.xml" Id="R09ba884e1061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6d5fa486a5403f" /><Relationship Type="http://schemas.openxmlformats.org/officeDocument/2006/relationships/notesMaster" Target="/ppt/notesMasters/notesMaster1.xml" Id="Rc012712285da4e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84ca29ec04c8e" /><Relationship Type="http://schemas.openxmlformats.org/officeDocument/2006/relationships/notesMaster" Target="/ppt/notesMasters/notesMaster1.xml" Id="R6a4b8c6cc3c344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e577f922a44e18" /><Relationship Type="http://schemas.openxmlformats.org/officeDocument/2006/relationships/notesMaster" Target="/ppt/notesMasters/notesMaster1.xml" Id="R518fbcbacf1e4e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4fa001b9e4239" /><Relationship Type="http://schemas.openxmlformats.org/officeDocument/2006/relationships/notesMaster" Target="/ppt/notesMasters/notesMaster1.xml" Id="R30b2e6c3e2374a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3ff6805d14120" /><Relationship Type="http://schemas.openxmlformats.org/officeDocument/2006/relationships/notesMaster" Target="/ppt/notesMasters/notesMaster1.xml" Id="R32f76053744541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 and Founding Accord.</a:t>
            </a:r>
          </a:p>
          <a:p xmlns:a="http://schemas.openxmlformats.org/drawingml/2006/main">
            <a:r>
              <a:t>Purpose: Open with a strong public argument, while clearly stating Phase 1 and no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Manifesto draft and risk audit.</a:t>
            </a:r>
          </a:p>
          <a:p xmlns:a="http://schemas.openxmlformats.org/drawingml/2006/main">
            <a:r>
              <a:t>Purpose: Explain the practical risk in plain language rather than as an abstract dependency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Founding Accord practical questions and certification model.</a:t>
            </a:r>
          </a:p>
          <a:p xmlns:a="http://schemas.openxmlformats.org/drawingml/2006/main">
            <a:r>
              <a:t>Purpose: Convert the Charter into a simple public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 and Founding Accord five public obligations.</a:t>
            </a:r>
          </a:p>
          <a:p xmlns:a="http://schemas.openxmlformats.org/drawingml/2006/main">
            <a:r>
              <a:t>Purpose: Show the obligations as evidence demands, not decorative principles.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README, Founding Accord, certification model.</a:t>
            </a:r>
          </a:p>
          <a:p xmlns:a="http://schemas.openxmlformats.org/drawingml/2006/main">
            <a:r>
              <a:t>Purpose: Preserve the assurance-stack idea while making it readable and scoped.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Grounding-Faithfulness &amp; Contestability protocol and README phase discipline.</a:t>
            </a:r>
          </a:p>
          <a:p xmlns:a="http://schemas.openxmlformats.org/drawingml/2006/main">
            <a:r>
              <a:t>Purpose: Make the pilot concept concrete without inventing a real evaluation or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Founding Accord, certification model, manifesto buyer call.</a:t>
            </a:r>
          </a:p>
          <a:p xmlns:a="http://schemas.openxmlformats.org/drawingml/2006/main">
            <a:r>
              <a:t>Purpose: Make the Charter immediately useful for procurement and vendor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certification-model.md and certification-comment.md.</a:t>
            </a:r>
          </a:p>
          <a:p xmlns:a="http://schemas.openxmlformats.org/drawingml/2006/main">
            <a:r>
              <a:t>Purpose: Explain future assurance without implying it already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 how to help and protocol one-pager.</a:t>
            </a:r>
          </a:p>
          <a:p xmlns:a="http://schemas.openxmlformats.org/drawingml/2006/main">
            <a:r>
              <a:t>Purpose: End with a sharper public-interest call to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5a17c30864a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2fa87dec84756" /><Relationship Type="http://schemas.openxmlformats.org/officeDocument/2006/relationships/slideLayout" Target="/ppt/slideLayouts/slideLayout1.xml" Id="R26b101d1a0c5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101d1a0c5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09737dd348a0" /><Relationship Type="http://schemas.openxmlformats.org/officeDocument/2006/relationships/notesSlide" Target="/ppt/notesSlides/notesSlide1.xml" Id="R6427a27082d949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4c7b5e7814fae" /><Relationship Type="http://schemas.openxmlformats.org/officeDocument/2006/relationships/notesSlide" Target="/ppt/notesSlides/notesSlide2.xml" Id="R615d0e66b5aa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7069f735e485c" /><Relationship Type="http://schemas.openxmlformats.org/officeDocument/2006/relationships/notesSlide" Target="/ppt/notesSlides/notesSlide3.xml" Id="Rb68fa1fa5efe49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a958a997a4b59" /><Relationship Type="http://schemas.openxmlformats.org/officeDocument/2006/relationships/notesSlide" Target="/ppt/notesSlides/notesSlide4.xml" Id="Rca220d03c2e6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35d3ade704282" /><Relationship Type="http://schemas.openxmlformats.org/officeDocument/2006/relationships/notesSlide" Target="/ppt/notesSlides/notesSlide5.xml" Id="Rcb79353282bf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ab948bf794b90" /><Relationship Type="http://schemas.openxmlformats.org/officeDocument/2006/relationships/notesSlide" Target="/ppt/notesSlides/notesSlide6.xml" Id="R40e764c2bd9d49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03b86ae8647c2" /><Relationship Type="http://schemas.openxmlformats.org/officeDocument/2006/relationships/notesSlide" Target="/ppt/notesSlides/notesSlide7.xml" Id="R64354355bbf04e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433fe9df74fe8" /><Relationship Type="http://schemas.openxmlformats.org/officeDocument/2006/relationships/notesSlide" Target="/ppt/notesSlides/notesSlide8.xml" Id="Ra4e29a657e25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fe34f96a34a87" /><Relationship Type="http://schemas.openxmlformats.org/officeDocument/2006/relationships/notesSlide" Target="/ppt/notesSlides/notesSlide9.xml" Id="R3c9f970e8f5c4a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80B78-5F3D-48F1-ABAE-A2E78078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4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E0169-C790-4BA8-A68E-14CF933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D7D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9D7D3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4643-34B3-495C-8FF7-D5EC09E7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4B8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4B8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1693B-E06B-4DAE-BF3E-F4957A6E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4B83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4B83C"/>
                </a:solidFill>
                <a:latin typeface="Aptos"/>
                <a:ea typeface="Aptos"/>
                <a:cs typeface="Aptos"/>
              </a:rPr>
              <a:t>OUR AI CHARTER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E40F-372B-4F48-ACCE-23E4DD3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Trust is not</a:t>
            </a:r>
          </a:p>
          <a:p xmlns:a="http://schemas.openxmlformats.org/drawingml/2006/main">
            <a:pPr>
              <a:defRPr sz="6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feeling.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3847A-A55B-475D-BF2E-ACD7E65F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915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E4B83C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 i="0">
                <a:solidFill>
                  <a:srgbClr val="E4B83C"/>
                </a:solidFill>
                <a:latin typeface="Aptos Display"/>
                <a:ea typeface="Aptos Display"/>
                <a:cs typeface="Aptos Display"/>
              </a:rPr>
              <a:t>It is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1F163-CD2F-4287-8B6D-E6286E7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8915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DCE8E5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DCE8E5"/>
                </a:solidFill>
                <a:latin typeface="Aptos"/>
                <a:ea typeface="Aptos"/>
                <a:cs typeface="Aptos"/>
              </a:rPr>
              <a:t>An open draft for making AI claims inspectable: what the system is for, who answers for it, what evidence supports it, and what happens when it fails.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8BC78-0A57-443C-9B30-DB8A3F86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762750"/>
            <a:ext cx="7543800" cy="23431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E2422"/>
          </a:solidFill>
          <a:ln xmlns:a="http://schemas.openxmlformats.org/drawingml/2006/main" w="13335">
            <a:solidFill>
              <a:srgbClr val="5662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CA2A9-3CC0-417C-93A9-D753DDA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429500"/>
            <a:ext cx="643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8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9B100-F029-4B89-82B6-F4AA4881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905750"/>
            <a:ext cx="12573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26312E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8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8E5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793B-F241-4876-B59A-C47DABD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905750"/>
            <a:ext cx="12573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26312E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8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8E5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4999F-F40E-42C8-B5C6-7CB20BCD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7905750"/>
            <a:ext cx="12573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26312E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8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8E5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5DD35-A367-4A9D-A477-D821C28B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905750"/>
            <a:ext cx="12573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26312E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8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8E5"/>
                </a:solidFill>
                <a:latin typeface="Aptos"/>
                <a:ea typeface="Aptos"/>
                <a:cs typeface="Aptos"/>
              </a:rPr>
              <a:t>Remedy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C7B6F-3F0E-42A2-99BB-DE7A4BA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696450"/>
            <a:ext cx="716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 only: pilot evaluations.</a:t>
            </a:r>
          </a:p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Trust Mark. No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87286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5797C-8B1B-4FAA-89AE-E0DD440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552D5-4319-4299-B544-1CD58D6A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DA14D-3121-4BC3-A4B4-B122711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C7A10-5573-49AB-BAD6-0639864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The problem is</a:t>
            </a:r>
          </a:p>
          <a:p xmlns:a="http://schemas.openxmlformats.org/drawingml/2006/main">
            <a:pPr>
              <a:defRPr sz="46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unchallengeable reliance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B5173-2DE1-43EC-91F1-7E400569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91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AI is becoming infrastructure for learning, deciding, and creating. But the facts behind that reliance are often hidden.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F2551-F713-46DF-82CC-94D4B87A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171950" cy="4953000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E1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6C681-E029-41D3-99D6-359AB348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People depend on AI to...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376A5-FA31-4445-89F2-8557A5A1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answer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955C7-557E-4AF2-9224-130F1C88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B06D9-F0DE-4937-B06D-5BFE662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summarize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E5273-C7EB-4669-A72A-C8D097B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12A12-09F2-4378-9E67-74741848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9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support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02A58-8B19-432C-8077-91118B53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E28F3-84EB-4A4C-8090-772B5A15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7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serve the public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A9F0A-DCEB-4BFE-B9A8-84636776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4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D1C04-CB43-428A-84B0-CFB2E12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4171950" cy="4953000"/>
          </a:xfrm>
          <a:prstGeom xmlns:a="http://schemas.openxmlformats.org/drawingml/2006/main" prst="roundRect">
            <a:avLst>
              <a:gd name="adj" fmla="val 5936"/>
            </a:avLst>
          </a:prstGeom>
          <a:solidFill xmlns:a="http://schemas.openxmlformats.org/drawingml/2006/main">
            <a:srgbClr val="F7DFDA"/>
          </a:solidFill>
          <a:ln xmlns:a="http://schemas.openxmlformats.org/drawingml/2006/main" w="19050">
            <a:solidFill>
              <a:srgbClr val="D94F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353E4-9C44-483F-B9C1-54D07CD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But cannot always see...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5E92C-F22B-4CEB-B218-75304FB4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29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who controls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CF010-5461-4A41-9C5F-9DF1C5BE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0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6"/>
          </a:solidFill>
          <a:ln xmlns:a="http://schemas.openxmlformats.org/drawingml/2006/main" w="9525">
            <a:solidFill>
              <a:srgbClr val="D94F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25238-476F-4F39-B006-B135EF8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1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what supports 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E8F09-0F58-4D84-9F0E-244CAF3F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8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6"/>
          </a:solidFill>
          <a:ln xmlns:a="http://schemas.openxmlformats.org/drawingml/2006/main" w="9525">
            <a:solidFill>
              <a:srgbClr val="D94F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8E410-57D5-453D-B650-435D34D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59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69957-77EB-4E28-8D6E-B26CA2DF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667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6"/>
          </a:solidFill>
          <a:ln xmlns:a="http://schemas.openxmlformats.org/drawingml/2006/main" w="9525">
            <a:solidFill>
              <a:srgbClr val="D94F3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6EC01-4C70-43AF-9A1F-5DDF328A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7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how to challenge harm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FF030-3206-4F7B-97B2-F229A4DA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44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6"/>
          </a:solidFill>
          <a:ln xmlns:a="http://schemas.openxmlformats.org/drawingml/2006/main" w="9525">
            <a:solidFill>
              <a:srgbClr val="D94F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FB546-D1CE-4903-8258-D7C266A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677400"/>
            <a:ext cx="77724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Reliance without evidence becomes a governance risk.</a:t>
            </a:r>
          </a:p>
        </p:txBody>
      </p:sp>
    </p:spTree>
    <p:extLst>
      <p:ext uri="{BB962C8B-B14F-4D97-AF65-F5344CB8AC3E}">
        <p14:creationId xmlns:p14="http://schemas.microsoft.com/office/powerpoint/2010/main" val="1860252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4A56A-79B6-4B73-A3A0-905CE9F9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AD68-5234-4C40-B259-B5E5B1DA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9E09D-BFD6-4E61-9FFC-2CC7409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0D500-F7AF-4B89-88D6-88639B1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THE PLAIN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EE6A8-F28E-4B23-9B52-687FA437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Can the system</a:t>
            </a:r>
          </a:p>
          <a:p xmlns:a="http://schemas.openxmlformats.org/drawingml/2006/main">
            <a:pPr>
              <a:defRPr sz="51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show its work?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67EB-2055-4733-9ED4-B6AD3A66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91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A trustworthy claim should answer four questions before people are asked to rely on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9E42E-E26B-4374-8254-948EDC48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807720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661D9-C238-46D3-9F86-90B77086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91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94494-2469-4015-AC2F-5D128BE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1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What is it for?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ACF7A-78F4-4D59-A07E-7EE47760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38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intended use, prohibited use, 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B48F6-1C32-4AD8-932C-711E437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62650"/>
            <a:ext cx="807720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8E1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F51F5-E3E9-4D75-B7B1-5C8282F0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2007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63CD2-F49D-4983-8B7C-1A50DDBD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Who is responsible?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FC75A-307C-490E-BF09-E16BD23A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48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named owner, contact, review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BDCBF-91EA-4F30-9182-88DEEE5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372350"/>
            <a:ext cx="807720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524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EF8A3-2CB0-432A-8CD4-41B52FA2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6104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29267-C2E5-4FD3-84E3-674F2B2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600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What evidence supports 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DE92D-2F1C-4B1E-9771-115E4EAD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658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sources, tests, risk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2BF88-7909-4805-BED1-9277B46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82050"/>
            <a:ext cx="807720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8E1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1BCF1-7043-44A4-98A3-0B7458F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020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6"/>
          </a:solidFill>
          <a:ln xmlns:a="http://schemas.openxmlformats.org/drawingml/2006/main" w="9525">
            <a:solidFill>
              <a:srgbClr val="D94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DC6F0-486D-45D2-9274-2C01C4C7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010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What happens when it fails?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7C1B4-BD3C-4520-9D41-5DCD39E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067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correction, remedy, withdrawal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2A7B9-D4C4-4E1D-8BEB-A9475AA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458450"/>
            <a:ext cx="788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94F3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D94F36"/>
                </a:solidFill>
                <a:latin typeface="Aptos"/>
                <a:ea typeface="Aptos"/>
                <a:cs typeface="Aptos"/>
              </a:rPr>
              <a:t>If the answer is no, the claim should not stand.</a:t>
            </a:r>
          </a:p>
        </p:txBody>
      </p:sp>
    </p:spTree>
    <p:extLst>
      <p:ext uri="{BB962C8B-B14F-4D97-AF65-F5344CB8AC3E}">
        <p14:creationId xmlns:p14="http://schemas.microsoft.com/office/powerpoint/2010/main" val="1175914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5056B-E2AB-4B28-9D16-BB379741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8BDE-A475-4499-9FF1-7A72A59B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ECB11-E6E3-4329-B227-246FFDB2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17185-F776-45F1-AD31-EAA8B00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Five obligations.</a:t>
            </a:r>
          </a:p>
          <a:p xmlns:a="http://schemas.openxmlformats.org/drawingml/2006/main">
            <a:pPr>
              <a:def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Five evidence demands.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9C8A6-0B68-4E53-B15F-BFF2FD07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89154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4B1F5-038A-4AA9-A517-415C879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Purpose-bound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914C8-B5C3-4423-BF52-4270BAC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scope, misuse boundaries, known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FADCA-8A8A-4091-8B02-5387B67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9154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94F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CC701-1B20-4B39-8DA2-8EF57A47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Answerable to 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B7D81-60D7-4BAB-9AE8-439E21D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863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owner, notice, challenge, remedy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709F2-1A7E-4696-9EAC-CD947EE8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9154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F5D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05BB5-E1D3-4901-8493-71402027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Safe, private, resilient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EA45C-906D-411C-B5E1-C97F2083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388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controls, incidents, continuity, exit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80B04-0890-4353-A481-A679BDF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24700"/>
            <a:ext cx="89154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98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BB2CD-D2EB-4BA6-968F-958D88D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72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Fair in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864EA-6503-4FA9-AA49-074E4B7E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3914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uneven failure/refusal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E67E1-6609-4F15-807F-32EC2D5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0"/>
            <a:ext cx="89154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75E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3D98C-789B-46D0-843E-2BCB89EF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Open to correction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3D703-5E4C-4831-8AAB-3A796E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87439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sources, change logs, fixes, withdrawals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AED9C-CE36-4624-A55C-A4EE97F6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0172700"/>
            <a:ext cx="79248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Values with teeth - or they are only words.</a:t>
            </a:r>
          </a:p>
        </p:txBody>
      </p:sp>
    </p:spTree>
    <p:extLst>
      <p:ext uri="{BB962C8B-B14F-4D97-AF65-F5344CB8AC3E}">
        <p14:creationId xmlns:p14="http://schemas.microsoft.com/office/powerpoint/2010/main" val="401236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BEB48-C518-480A-BE7A-A16D95A9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FAEBC-A3A7-4584-96EC-DA2D602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61B68-B861-417F-8A0D-ABC5AE9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8DF53-9F82-44E0-8A4F-A1612647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No badge</a:t>
            </a:r>
          </a:p>
          <a:p xmlns:a="http://schemas.openxmlformats.org/drawingml/2006/main">
            <a:pPr>
              <a:defRPr sz="52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without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B45FD-BD56-41BE-A1FC-F3FF7DFC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91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A future Charter claim cannot be a vague trust label. It has to say exactly what was assessed - and what was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ACC08-285F-4950-895D-098B633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78486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7DFDA"/>
          </a:solidFill>
          <a:ln xmlns:a="http://schemas.openxmlformats.org/drawingml/2006/main" w="19050">
            <a:solidFill>
              <a:srgbClr val="D94F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0D947-6627-465F-AC59-41E6DD03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36"/>
          </a:solidFill>
          <a:ln xmlns:a="http://schemas.openxmlformats.org/drawingml/2006/main" w="9525">
            <a:solidFill>
              <a:srgbClr val="D94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F9E7C-2E38-42E5-9C36-F58E9A7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Declared legal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9B514-A732-4ED5-AC76-EE35BE6C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market, role, use-case, legal assumptions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506F9-87E5-4C34-99E9-98C20BC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62650"/>
            <a:ext cx="78486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5CFBF-B06F-43F9-AC3A-4D30638C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48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015C0-43B5-48D9-A57E-0270624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29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Common evidence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7ECC4-1324-4487-BEC2-F24B026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6103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the five obligations made auditable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CC6B5-8A3C-41C8-9B52-A26EC94F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448550"/>
            <a:ext cx="78486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5E6F4"/>
          </a:solidFill>
          <a:ln xmlns:a="http://schemas.openxmlformats.org/drawingml/2006/main" w="19050">
            <a:solidFill>
              <a:srgbClr val="4F5D9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473B0-3346-4D20-95A4-EFC8551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734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5D95"/>
          </a:solidFill>
          <a:ln xmlns:a="http://schemas.openxmlformats.org/drawingml/2006/main" w="9525">
            <a:solidFill>
              <a:srgbClr val="4F5D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4037E-E6AA-4ACA-98FC-D12413D7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715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Public-interest modules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BF9EE-11F7-4AC0-8CDD-768ADFF8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8096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deeper tests for material risks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B980E-92AF-4798-AFB4-C13CA670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829800"/>
            <a:ext cx="807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4F3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D94F36"/>
                </a:solidFill>
                <a:latin typeface="Aptos"/>
                <a:ea typeface="Aptos"/>
                <a:cs typeface="Aptos"/>
              </a:rPr>
              <a:t>Not legal approval. Not a blanket organization badge. Not whole-system proof from one narrow test.</a:t>
            </a:r>
          </a:p>
        </p:txBody>
      </p:sp>
    </p:spTree>
    <p:extLst>
      <p:ext uri="{BB962C8B-B14F-4D97-AF65-F5344CB8AC3E}">
        <p14:creationId xmlns:p14="http://schemas.microsoft.com/office/powerpoint/2010/main" val="1795149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BA33B-A19A-4D91-A02C-353DE419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53B29-99C0-42B5-83E3-7E426818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98FC8-DCFC-41B8-A91C-F7865AAB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3696F-0851-4EB5-B261-590547F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What a pilot report</a:t>
            </a:r>
          </a:p>
          <a:p xmlns:a="http://schemas.openxmlformats.org/drawingml/2006/main">
            <a:pPr>
              <a:def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would actually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3FED6-169D-4B3A-A78D-652C4AB3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9154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05E9F-6070-4764-9E63-0A93B4A3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4B8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4B83C"/>
                </a:solidFill>
                <a:latin typeface="Aptos"/>
                <a:ea typeface="Aptos"/>
                <a:cs typeface="Aptos"/>
              </a:rPr>
              <a:t>Hypothetical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48337-3549-462D-BA6B-1A76F71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benefits-support chatbot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13658-284B-41B1-BC97-FE2B9249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2862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07751-0B7C-4000-AAC7-37C4123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Names the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0A9AC-1BA1-40FC-BF3E-F21049A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system, version, use-case, material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992B4-F6FF-4CE6-8DDA-94E0CC56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29150"/>
            <a:ext cx="42862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4288">
            <a:solidFill>
              <a:srgbClr val="E4B8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09E47-7B48-456F-B407-92F7F4AC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768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States the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8DB39-9031-4A67-BE96-11A6777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2925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which duty or module was evaluated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EF7B5-F9AA-4174-84CD-B9313A8E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29400"/>
            <a:ext cx="42862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6F4"/>
          </a:solidFill>
          <a:ln xmlns:a="http://schemas.openxmlformats.org/drawingml/2006/main" w="14288">
            <a:solidFill>
              <a:srgbClr val="4F5D9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6DF73-BF1E-476C-B280-4637BDB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Publishes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099DE-BD97-48DD-BA29-6D24CA3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2950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what passed, failed, or was not assessed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CA8F5-8F88-4404-9261-1D6F0BEE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629400"/>
            <a:ext cx="42862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DFDA"/>
          </a:solidFill>
          <a:ln xmlns:a="http://schemas.openxmlformats.org/drawingml/2006/main" w="14288">
            <a:solidFill>
              <a:srgbClr val="D94F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ED913-FF10-4FD5-863C-2A384E86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8770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Keeps a 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8231B-7784-45BF-B303-974D5D83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42950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material change or hidden failure means re-check or withdraw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3034D-BCE1-4B81-934E-D139B12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182100"/>
            <a:ext cx="78105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F3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4F36"/>
                </a:solidFill>
                <a:latin typeface="Aptos"/>
                <a:ea typeface="Aptos"/>
                <a:cs typeface="Aptos"/>
              </a:rPr>
              <a:t>It does not certify the whole system, truth, safety, or legal compliance.</a:t>
            </a:r>
          </a:p>
        </p:txBody>
      </p:sp>
    </p:spTree>
    <p:extLst>
      <p:ext uri="{BB962C8B-B14F-4D97-AF65-F5344CB8AC3E}">
        <p14:creationId xmlns:p14="http://schemas.microsoft.com/office/powerpoint/2010/main" val="1060327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82A4B-0114-4D07-AB97-560DDC5C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5B05F-BCE7-4F4A-8DC9-68CDA05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CFB83-2507-4777-BCD3-B80B6B62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A127F-F9B5-4617-BBBA-BE3FF99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D94F3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D94F36"/>
                </a:solidFill>
                <a:latin typeface="Aptos"/>
                <a:ea typeface="Aptos"/>
                <a:cs typeface="Aptos"/>
              </a:rPr>
              <a:t>FOR BUYERS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10F7-D6F4-43EB-8D54-5F76455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Put this in</a:t>
            </a:r>
          </a:p>
          <a:p xmlns:a="http://schemas.openxmlformats.org/drawingml/2006/main">
            <a:pPr>
              <a:defRPr sz="58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the RFP.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613CF-E345-44DA-8ACA-6A08D608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91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Require vendors to answer per release. Treat missing evidence as a risk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F9272-C310-46A3-9183-0143BB7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B9265-EA50-4F48-A083-D508EC1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Assessed release and allowed uses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F5FE8-33FF-46D3-BDBD-394B26C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AF5B0-EBF9-48F7-95E4-4A934F85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315A9-2D0F-43F5-99FC-AB48961C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Named accountable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32C2D-2E75-431A-9F0C-D565173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848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38A7D-69B0-40DC-A3E8-8651BBAD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14B6A-F780-437D-A067-BD4D47A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48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Models, tools, data, providers, and change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2C18E-3911-4D46-9E28-A40ECB6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7246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5CDE0-AF20-4D61-A86C-B7351D2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C566F-D919-41A4-A603-65F9BA7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124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Known limits, risks, incidents, and rollback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C605E-33B7-4C1C-9D0A-A0927651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6009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E8BFC-D556-49A5-A595-292E674D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0413B-CE63-4767-850B-05EBE98B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01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Complaint, correction, appeal, and remedy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82242-B532-4B63-98E3-9CD75F1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4772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5097D-1583-4F69-8C19-16C555E7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963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787F7-082C-4553-B21B-EBA47B8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877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Modules assessed, not assessed, or not relevant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DF7DB-000D-4455-BA94-6A3EA17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93535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2710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31FC50-ACB7-458F-AB72-C4860565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82028-878B-443B-A30D-7D4EC5F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DAD6-4FDE-4637-8CEF-99C04059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E7C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78A51-E085-44B2-AA44-DE893D7D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If a mark exists later,</a:t>
            </a:r>
          </a:p>
          <a:p xmlns:a="http://schemas.openxmlformats.org/drawingml/2006/main">
            <a:pPr>
              <a:defRPr sz="39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no one marks their own homework.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51933-155C-469D-940E-F143B32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8915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That machinery does not exist today. If demand justifies it later, the roles must be separated.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9061D-DB91-4947-9D55-6672185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81915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093E9-B519-4D71-9B29-FA2EFFFE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76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Standard-setter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B0284-E4C8-4AB0-92AD-FFB0D32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writes the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306ED-190A-4436-8CAE-B961D46E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81915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7DFDA"/>
          </a:solidFill>
          <a:ln xmlns:a="http://schemas.openxmlformats.org/drawingml/2006/main" w="19050">
            <a:solidFill>
              <a:srgbClr val="D94F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D540C-51F3-4690-840C-4B6FF64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7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Independent assessor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E65A3-5043-4D7D-A914-5213A957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1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audits the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92BA7-1C77-451A-9C31-B6A0AF56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9900"/>
            <a:ext cx="81915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E5E6F4"/>
          </a:solidFill>
          <a:ln xmlns:a="http://schemas.openxmlformats.org/drawingml/2006/main" w="19050">
            <a:solidFill>
              <a:srgbClr val="4F5D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ABB49-E0AD-464C-BA12-5798058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058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Accreditor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B1273-80B7-45D3-A668-9086CFF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105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polices assessors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5A874-C020-4889-8502-43BB811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210550"/>
            <a:ext cx="81915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19050">
            <a:solidFill>
              <a:srgbClr val="E4B8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2BC9C-B0DE-412C-BE38-A801575E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448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41414"/>
                </a:solidFill>
                <a:latin typeface="Aptos"/>
                <a:ea typeface="Aptos"/>
                <a:cs typeface="Aptos"/>
              </a:rPr>
              <a:t>Peer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90879-FC1D-4183-AAD4-1444043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496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C5B57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C5B57"/>
                </a:solidFill>
                <a:latin typeface="Aptos"/>
                <a:ea typeface="Aptos"/>
                <a:cs typeface="Aptos"/>
              </a:rPr>
              <a:t>checks accreditors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1096E-62DF-4468-968C-2C609DE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829800"/>
            <a:ext cx="7772400" cy="762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the method now. Borrow the machinery later.</a:t>
            </a:r>
          </a:p>
        </p:txBody>
      </p:sp>
    </p:spTree>
    <p:extLst>
      <p:ext uri="{BB962C8B-B14F-4D97-AF65-F5344CB8AC3E}">
        <p14:creationId xmlns:p14="http://schemas.microsoft.com/office/powerpoint/2010/main" val="1584366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49F71-BAB9-4482-8BCA-1AA852D6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586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4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D13F7-321F-4D22-B8FE-89DBD8B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729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D7D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9D7D3"/>
                </a:solidFill>
                <a:latin typeface="Aptos"/>
                <a:ea typeface="Aptos"/>
                <a:cs typeface="Aptos"/>
              </a:rPr>
              <a:t>Open draft | Phase 1 pilots only | No Trust Mark or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555B5-9A47-44F6-B95E-E53C4408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72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4B8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4B83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1BFDE-AD1A-41DA-9BEA-E3F1092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E4B83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4B83C"/>
                </a:solidFill>
                <a:latin typeface="Aptos"/>
                <a:ea typeface="Aptos"/>
                <a:cs typeface="Aptos"/>
              </a:rPr>
              <a:t>THE INVITATION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66C6B-C117-4215-BB1B-8EA81DF1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Make unverifiable AI</a:t>
            </a:r>
          </a:p>
          <a:p xmlns:a="http://schemas.openxmlformats.org/drawingml/2006/main">
            <a:pPr>
              <a:defRPr sz="5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harder to sell.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FFF73-6552-4B04-81D4-482AE37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DCE8E5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DCE8E5"/>
                </a:solidFill>
                <a:latin typeface="Aptos"/>
                <a:ea typeface="Aptos"/>
                <a:cs typeface="Aptos"/>
              </a:rPr>
              <a:t>The work now is not a badge. It is critique, measurement design, and pilot reports people can inspect.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4080C-EB02-43DE-9F7E-026F086E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79248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2422"/>
          </a:solidFill>
          <a:ln xmlns:a="http://schemas.openxmlformats.org/drawingml/2006/main" w="19050">
            <a:solidFill>
              <a:srgbClr val="D94F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1255E-68DB-4DF1-A2E3-7441F1F0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14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 failure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0B985-21E3-49EF-97A0-F8ED61EC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353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D7D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9D7D3"/>
                </a:solidFill>
                <a:latin typeface="Aptos"/>
                <a:ea typeface="Aptos"/>
                <a:cs typeface="Aptos"/>
              </a:rPr>
              <a:t>Where does the method fail or hide risk?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1A702-D728-430F-86CE-9C485F0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34150"/>
            <a:ext cx="79248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2422"/>
          </a:solidFill>
          <a:ln xmlns:a="http://schemas.openxmlformats.org/drawingml/2006/main" w="19050">
            <a:solidFill>
              <a:srgbClr val="E4B8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51870-4348-4FBC-BBC1-D6A0538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781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Co-design 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711AA-B6EE-4442-ABB0-3A7F7906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819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D7D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9D7D3"/>
                </a:solidFill>
                <a:latin typeface="Aptos"/>
                <a:ea typeface="Aptos"/>
                <a:cs typeface="Aptos"/>
              </a:rPr>
              <a:t>Set a defensible test for one use-case.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93B27-270F-473D-B44A-3F0DE6B4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001000"/>
            <a:ext cx="79248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2422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83FA8-13BE-4168-A82E-F72161C5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48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a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8D3BA-D84C-4ADB-97F1-F71C5A1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286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9D7D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9D7D3"/>
                </a:solidFill>
                <a:latin typeface="Aptos"/>
                <a:ea typeface="Aptos"/>
                <a:cs typeface="Aptos"/>
              </a:rPr>
              <a:t>Volunteer a deployed system for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6EFBE-DF15-435C-98A5-C52D1A3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696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E4B83C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E4B83C"/>
                </a:solidFill>
                <a:latin typeface="Aptos"/>
                <a:ea typeface="Aptos"/>
                <a:cs typeface="Aptos"/>
              </a:rPr>
              <a:t>robertschaub.github.io/our-ai-charter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D84AB-2AC1-4343-895F-BE953338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363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Built in public. Tested by many.</a:t>
            </a:r>
          </a:p>
        </p:txBody>
      </p:sp>
    </p:spTree>
    <p:extLst>
      <p:ext uri="{BB962C8B-B14F-4D97-AF65-F5344CB8AC3E}">
        <p14:creationId xmlns:p14="http://schemas.microsoft.com/office/powerpoint/2010/main" val="28259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2026-06-16T20:09:14.0290000Z</dcterms:created>
  <dcterms:modified xsi:type="dcterms:W3CDTF">2026-06-16T20:09:14.0290000Z</dcterms:modified>
</coreProperties>
</file>